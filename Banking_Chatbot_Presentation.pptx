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5303520" y="274320"/>
            <a:ext cx="3657600" cy="36576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2920" y="502920"/>
            <a:ext cx="2377440" cy="347472"/>
          </a:xfrm>
          <a:prstGeom prst="roundRect">
            <a:avLst>
              <a:gd name="adj" fmla="val 13158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5029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3E"/>
                </a:solidFill>
              </a:rPr>
              <a:t>AI INTERNSHIP ASSIGNMENT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411480" y="1051560"/>
            <a:ext cx="7132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Chatbot</a:t>
            </a:r>
            <a:endParaRPr lang="en-US" sz="5200" dirty="0"/>
          </a:p>
        </p:txBody>
      </p:sp>
      <p:sp>
        <p:nvSpPr>
          <p:cNvPr id="7" name="Shape 4"/>
          <p:cNvSpPr/>
          <p:nvPr/>
        </p:nvSpPr>
        <p:spPr>
          <a:xfrm>
            <a:off x="411480" y="2057400"/>
            <a:ext cx="5029200" cy="41148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221284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Q&amp;A System using LLM &amp; Embeddings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11480" y="274320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Retrieval  ·  Sentence Transformers  ·  Groq LLaMA 3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62550"/>
          </a:solidFill>
          <a:ln w="12700">
            <a:solidFill>
              <a:srgbClr val="16255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1480" y="4617720"/>
            <a:ext cx="832104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4CC"/>
                </a:solidFill>
              </a:rPr>
              <a:t>Built with Python  ·  Sentence Transformers  ·  Groq / OpenAI API  ·  CLI Interface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1556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we instantly answer banking questions?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274320" y="2029968"/>
            <a:ext cx="283464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2029968"/>
            <a:ext cx="2834640" cy="73152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71600" y="2212848"/>
            <a:ext cx="640080" cy="64008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5608" y="2276856"/>
            <a:ext cx="512064" cy="5120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84048" y="2944368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Overload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20624" y="3456432"/>
            <a:ext cx="254203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struggle to find quick, accurate answers from lengthy banking documents and FAQs.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46120" y="2029968"/>
            <a:ext cx="283464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46120" y="2029968"/>
            <a:ext cx="2834640" cy="73152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343400" y="2212848"/>
            <a:ext cx="640080" cy="64008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408" y="2276856"/>
            <a:ext cx="512064" cy="51206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355848" y="2944368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Support Needed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392424" y="3456432"/>
            <a:ext cx="254203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need round-the-clock support for common queries without relying solely on human agents.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217920" y="2029968"/>
            <a:ext cx="283464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217920" y="2029968"/>
            <a:ext cx="2834640" cy="73152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0" y="2212848"/>
            <a:ext cx="640080" cy="64008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9208" y="2276856"/>
            <a:ext cx="512064" cy="51206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327648" y="2944368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Terminology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364224" y="3456432"/>
            <a:ext cx="254203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terms like KYC, NEFT, CIBIL score are confusing to everyday customers without clear explanations.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62550"/>
          </a:solidFill>
          <a:ln w="12700">
            <a:solidFill>
              <a:srgbClr val="1625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Architecture — RAG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417320"/>
            <a:ext cx="1417320" cy="2331720"/>
          </a:xfrm>
          <a:prstGeom prst="rect">
            <a:avLst/>
          </a:prstGeom>
          <a:solidFill>
            <a:srgbClr val="1E3A70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17320"/>
            <a:ext cx="1417320" cy="64008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5087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4CC"/>
                </a:solidFill>
              </a:rPr>
              <a:t>1</a:t>
            </a:r>
            <a:endParaRPr lang="en-US" sz="13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" y="1920240"/>
            <a:ext cx="585216" cy="58521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262432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User Query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65760" y="310896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C4CC"/>
                </a:solidFill>
              </a:rPr>
              <a:t>CLI Input</a:t>
            </a:r>
            <a:endParaRPr lang="en-US" sz="9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080" y="2286000"/>
            <a:ext cx="274320" cy="2743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103120" y="1417320"/>
            <a:ext cx="1417320" cy="2331720"/>
          </a:xfrm>
          <a:prstGeom prst="rect">
            <a:avLst/>
          </a:prstGeom>
          <a:solidFill>
            <a:srgbClr val="1E3A70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2103120" y="1417320"/>
            <a:ext cx="1417320" cy="64008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103120" y="15087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4CC"/>
                </a:solidFill>
              </a:rPr>
              <a:t>2</a:t>
            </a:r>
            <a:endParaRPr lang="en-US" sz="13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9172" y="1920240"/>
            <a:ext cx="585216" cy="58521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148840" y="262432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Embed Query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2148840" y="310896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C4CC"/>
                </a:solidFill>
              </a:rPr>
              <a:t>Sentence Transformers</a:t>
            </a:r>
            <a:endParaRPr lang="en-US" sz="9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2286000"/>
            <a:ext cx="274320" cy="27432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3886200" y="1417320"/>
            <a:ext cx="1417320" cy="2331720"/>
          </a:xfrm>
          <a:prstGeom prst="rect">
            <a:avLst/>
          </a:prstGeom>
          <a:solidFill>
            <a:srgbClr val="1E3A70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3886200" y="1417320"/>
            <a:ext cx="1417320" cy="64008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3886200" y="15087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4CC"/>
                </a:solidFill>
              </a:rPr>
              <a:t>3</a:t>
            </a:r>
            <a:endParaRPr lang="en-US" sz="13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2252" y="1920240"/>
            <a:ext cx="585216" cy="58521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931920" y="262432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Retrieve Context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3931920" y="310896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C4CC"/>
                </a:solidFill>
              </a:rPr>
              <a:t>Cosine Similarity</a:t>
            </a:r>
            <a:endParaRPr lang="en-US" sz="95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9240" y="2286000"/>
            <a:ext cx="274320" cy="274320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5669280" y="1417320"/>
            <a:ext cx="1417320" cy="2331720"/>
          </a:xfrm>
          <a:prstGeom prst="rect">
            <a:avLst/>
          </a:prstGeom>
          <a:solidFill>
            <a:srgbClr val="1E3A70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5669280" y="1417320"/>
            <a:ext cx="1417320" cy="64008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8" name="Text 20"/>
          <p:cNvSpPr/>
          <p:nvPr/>
        </p:nvSpPr>
        <p:spPr>
          <a:xfrm>
            <a:off x="5669280" y="15087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4CC"/>
                </a:solidFill>
              </a:rPr>
              <a:t>4</a:t>
            </a:r>
            <a:endParaRPr lang="en-US" sz="130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5332" y="1920240"/>
            <a:ext cx="585216" cy="585216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5715000" y="262432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LLM Generation</a:t>
            </a:r>
            <a:endParaRPr lang="en-US" sz="1200" dirty="0"/>
          </a:p>
        </p:txBody>
      </p:sp>
      <p:sp>
        <p:nvSpPr>
          <p:cNvPr id="31" name="Text 22"/>
          <p:cNvSpPr/>
          <p:nvPr/>
        </p:nvSpPr>
        <p:spPr>
          <a:xfrm>
            <a:off x="5715000" y="310896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C4CC"/>
                </a:solidFill>
              </a:rPr>
              <a:t>Groq / OpenAI</a:t>
            </a:r>
            <a:endParaRPr lang="en-US" sz="950" dirty="0"/>
          </a:p>
        </p:txBody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2320" y="2286000"/>
            <a:ext cx="274320" cy="274320"/>
          </a:xfrm>
          <a:prstGeom prst="rect">
            <a:avLst/>
          </a:prstGeom>
        </p:spPr>
      </p:pic>
      <p:sp>
        <p:nvSpPr>
          <p:cNvPr id="33" name="Shape 23"/>
          <p:cNvSpPr/>
          <p:nvPr/>
        </p:nvSpPr>
        <p:spPr>
          <a:xfrm>
            <a:off x="7452360" y="1417320"/>
            <a:ext cx="1417320" cy="2331720"/>
          </a:xfrm>
          <a:prstGeom prst="rect">
            <a:avLst/>
          </a:prstGeom>
          <a:solidFill>
            <a:srgbClr val="1E3A70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24"/>
          <p:cNvSpPr/>
          <p:nvPr/>
        </p:nvSpPr>
        <p:spPr>
          <a:xfrm>
            <a:off x="7452360" y="1417320"/>
            <a:ext cx="1417320" cy="64008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7452360" y="15087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4CC"/>
                </a:solidFill>
              </a:rPr>
              <a:t>5</a:t>
            </a:r>
            <a:endParaRPr lang="en-US" sz="1300" dirty="0"/>
          </a:p>
        </p:txBody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68412" y="1920240"/>
            <a:ext cx="585216" cy="585216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7498080" y="262432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Final Answer</a:t>
            </a:r>
            <a:endParaRPr lang="en-US" sz="1200" dirty="0"/>
          </a:p>
        </p:txBody>
      </p:sp>
      <p:sp>
        <p:nvSpPr>
          <p:cNvPr id="38" name="Text 27"/>
          <p:cNvSpPr/>
          <p:nvPr/>
        </p:nvSpPr>
        <p:spPr>
          <a:xfrm>
            <a:off x="7498080" y="310896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C4CC"/>
                </a:solidFill>
              </a:rPr>
              <a:t>CLI Output</a:t>
            </a:r>
            <a:endParaRPr lang="en-US" sz="950" dirty="0"/>
          </a:p>
        </p:txBody>
      </p:sp>
      <p:sp>
        <p:nvSpPr>
          <p:cNvPr id="39" name="Shape 28"/>
          <p:cNvSpPr/>
          <p:nvPr/>
        </p:nvSpPr>
        <p:spPr>
          <a:xfrm>
            <a:off x="320040" y="3977640"/>
            <a:ext cx="8503920" cy="822960"/>
          </a:xfrm>
          <a:prstGeom prst="rect">
            <a:avLst/>
          </a:prstGeom>
          <a:solidFill>
            <a:srgbClr val="162550"/>
          </a:solidFill>
          <a:ln w="12700">
            <a:solidFill>
              <a:srgbClr val="162550"/>
            </a:solidFill>
            <a:prstDash val="solid"/>
          </a:ln>
        </p:spPr>
      </p:sp>
      <p:sp>
        <p:nvSpPr>
          <p:cNvPr id="40" name="Text 29"/>
          <p:cNvSpPr/>
          <p:nvPr/>
        </p:nvSpPr>
        <p:spPr>
          <a:xfrm>
            <a:off x="502920" y="397764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DDEEFF"/>
                </a:solidFill>
              </a:rPr>
              <a:t>RAG (Retrieval-Augmented Generation) combines the precision of semantic search with the fluency of LLMs to deliver accurate, context-grounded answers.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70432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70432"/>
            <a:ext cx="64008" cy="16916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" y="1673352"/>
            <a:ext cx="640080" cy="64008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37360"/>
            <a:ext cx="512064" cy="5120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61872" y="12801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261872" y="15544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1261872" y="1993392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curated banking Q&amp;A pairs stored in a structured JSON file for easy loading and extension.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709160" y="1170432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09160" y="1170432"/>
            <a:ext cx="64008" cy="16916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73752" y="1673352"/>
            <a:ext cx="640080" cy="64008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737360"/>
            <a:ext cx="512064" cy="51206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696712" y="12801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5696712" y="15544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Transformers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5696712" y="1993392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 model converts text to 384-dimensional dense vectors — locally, no API required.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274320" y="3044952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274320" y="3044952"/>
            <a:ext cx="64008" cy="16916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38912" y="3547872"/>
            <a:ext cx="640080" cy="64008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611880"/>
            <a:ext cx="512064" cy="51206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261872" y="31546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1261872" y="342900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</a:t>
            </a:r>
            <a:endParaRPr lang="en-US" sz="1450" dirty="0"/>
          </a:p>
        </p:txBody>
      </p:sp>
      <p:sp>
        <p:nvSpPr>
          <p:cNvPr id="25" name="Text 20"/>
          <p:cNvSpPr/>
          <p:nvPr/>
        </p:nvSpPr>
        <p:spPr>
          <a:xfrm>
            <a:off x="1261872" y="3867912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dot-product (NumPy) finds the most semantically similar Q&amp;A entry in O(n) time.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4709160" y="3044952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4709160" y="3044952"/>
            <a:ext cx="64008" cy="16916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4873752" y="3547872"/>
            <a:ext cx="640080" cy="64008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611880"/>
            <a:ext cx="512064" cy="51206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696712" y="31546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Response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5696712" y="342900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LLaMA 3 / OpenAI</a:t>
            </a:r>
            <a:endParaRPr lang="en-US" sz="1450" dirty="0"/>
          </a:p>
        </p:txBody>
      </p:sp>
      <p:sp>
        <p:nvSpPr>
          <p:cNvPr id="32" name="Text 26"/>
          <p:cNvSpPr/>
          <p:nvPr/>
        </p:nvSpPr>
        <p:spPr>
          <a:xfrm>
            <a:off x="5696712" y="3867912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takes retrieved context + user query and generates a clean, concise natural language answer.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2550"/>
          </a:solidFill>
          <a:ln w="12700">
            <a:solidFill>
              <a:srgbClr val="1625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— 10 Banking Q&amp;A Entries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43000"/>
            <a:ext cx="4160520" cy="594360"/>
          </a:xfrm>
          <a:prstGeom prst="rect">
            <a:avLst/>
          </a:prstGeom>
          <a:solidFill>
            <a:srgbClr val="1E3A70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8016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0392" y="11430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KYC?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0040" y="1856232"/>
            <a:ext cx="4160520" cy="594360"/>
          </a:xfrm>
          <a:prstGeom prst="rect">
            <a:avLst/>
          </a:prstGeom>
          <a:solidFill>
            <a:srgbClr val="1E3A70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993392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50392" y="185623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savings account?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20040" y="2569464"/>
            <a:ext cx="4160520" cy="594360"/>
          </a:xfrm>
          <a:prstGeom prst="rect">
            <a:avLst/>
          </a:prstGeom>
          <a:solidFill>
            <a:srgbClr val="1E3A70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706624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50392" y="2569464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to open a bank account?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320040" y="3282696"/>
            <a:ext cx="4160520" cy="594360"/>
          </a:xfrm>
          <a:prstGeom prst="rect">
            <a:avLst/>
          </a:prstGeom>
          <a:solidFill>
            <a:srgbClr val="1E3A70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419856"/>
            <a:ext cx="320040" cy="32004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50392" y="3282696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fixed deposit?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320040" y="3995928"/>
            <a:ext cx="4160520" cy="594360"/>
          </a:xfrm>
          <a:prstGeom prst="rect">
            <a:avLst/>
          </a:prstGeom>
          <a:solidFill>
            <a:srgbClr val="1E3A70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4133088"/>
            <a:ext cx="320040" cy="32004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50392" y="3995928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NEFT?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4709160" y="1143000"/>
            <a:ext cx="4160520" cy="594360"/>
          </a:xfrm>
          <a:prstGeom prst="rect">
            <a:avLst/>
          </a:prstGeom>
          <a:solidFill>
            <a:srgbClr val="1E3A70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1280160"/>
            <a:ext cx="320040" cy="32004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239512" y="11430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credit score?</a:t>
            </a:r>
            <a:endParaRPr lang="en-US" sz="1200" dirty="0"/>
          </a:p>
        </p:txBody>
      </p:sp>
      <p:sp>
        <p:nvSpPr>
          <p:cNvPr id="23" name="Shape 15"/>
          <p:cNvSpPr/>
          <p:nvPr/>
        </p:nvSpPr>
        <p:spPr>
          <a:xfrm>
            <a:off x="4709160" y="1856232"/>
            <a:ext cx="4160520" cy="594360"/>
          </a:xfrm>
          <a:prstGeom prst="rect">
            <a:avLst/>
          </a:prstGeom>
          <a:solidFill>
            <a:srgbClr val="1E3A70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0600" y="1993392"/>
            <a:ext cx="320040" cy="32004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239512" y="185623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Debit card vs Credit card?</a:t>
            </a:r>
            <a:endParaRPr lang="en-US" sz="1200" dirty="0"/>
          </a:p>
        </p:txBody>
      </p:sp>
      <p:sp>
        <p:nvSpPr>
          <p:cNvPr id="26" name="Shape 17"/>
          <p:cNvSpPr/>
          <p:nvPr/>
        </p:nvSpPr>
        <p:spPr>
          <a:xfrm>
            <a:off x="4709160" y="2569464"/>
            <a:ext cx="4160520" cy="594360"/>
          </a:xfrm>
          <a:prstGeom prst="rect">
            <a:avLst/>
          </a:prstGeom>
          <a:solidFill>
            <a:srgbClr val="1E3A70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0600" y="2706624"/>
            <a:ext cx="320040" cy="32004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5239512" y="2569464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UPI?</a:t>
            </a:r>
            <a:endParaRPr lang="en-US" sz="1200" dirty="0"/>
          </a:p>
        </p:txBody>
      </p:sp>
      <p:sp>
        <p:nvSpPr>
          <p:cNvPr id="29" name="Shape 19"/>
          <p:cNvSpPr/>
          <p:nvPr/>
        </p:nvSpPr>
        <p:spPr>
          <a:xfrm>
            <a:off x="4709160" y="3282696"/>
            <a:ext cx="4160520" cy="594360"/>
          </a:xfrm>
          <a:prstGeom prst="rect">
            <a:avLst/>
          </a:prstGeom>
          <a:solidFill>
            <a:srgbClr val="1E3A70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00600" y="3419856"/>
            <a:ext cx="320040" cy="320040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5239512" y="3282696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loan eligibility criteria?</a:t>
            </a:r>
            <a:endParaRPr lang="en-US" sz="1200" dirty="0"/>
          </a:p>
        </p:txBody>
      </p:sp>
      <p:sp>
        <p:nvSpPr>
          <p:cNvPr id="32" name="Shape 21"/>
          <p:cNvSpPr/>
          <p:nvPr/>
        </p:nvSpPr>
        <p:spPr>
          <a:xfrm>
            <a:off x="4709160" y="3995928"/>
            <a:ext cx="4160520" cy="594360"/>
          </a:xfrm>
          <a:prstGeom prst="rect">
            <a:avLst/>
          </a:prstGeom>
          <a:solidFill>
            <a:srgbClr val="1E3A70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00600" y="4133088"/>
            <a:ext cx="320040" cy="320040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5239512" y="3995928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avoid banking fraud?</a:t>
            </a:r>
            <a:endParaRPr lang="en-US" sz="1200" dirty="0"/>
          </a:p>
        </p:txBody>
      </p:sp>
      <p:sp>
        <p:nvSpPr>
          <p:cNvPr id="35" name="Shape 23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36" name="Text 24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Format: JSON  ·  File: data/banking_qa.json  ·  Easily extensible — add more Q&amp;A entries anytime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Embeddings Work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430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Text into Numbers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201168" cy="201168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66420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embedding is a high-dimensional numeric vector that captures the semantic meaning of a sentence.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295144"/>
            <a:ext cx="201168" cy="201168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2402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all-MiniLM-L6-v2 — a fast, lightweight model that generates 384-dimensional vectors.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871216"/>
            <a:ext cx="201168" cy="201168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81635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sentences produce similar vectors, regardless of exact wording.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447288"/>
            <a:ext cx="201168" cy="201168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39242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vectors are L2-normalized so cosine similarity reduces to a dot product (fast &amp; accurate).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4023360"/>
            <a:ext cx="201168" cy="201168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96849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run entirely locally — no internet or API key required for this step.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40680" y="1097280"/>
            <a:ext cx="3383280" cy="3794760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7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40680" y="118872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4CC"/>
                </a:solidFill>
              </a:rPr>
              <a:t>Text → Vector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577840" y="1719072"/>
            <a:ext cx="3108960" cy="868680"/>
          </a:xfrm>
          <a:prstGeom prst="rect">
            <a:avLst/>
          </a:prstGeom>
          <a:solidFill>
            <a:srgbClr val="1E3A7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50992" y="177393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"What is KYC?"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50992" y="21214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C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[0.12, -0.45, 0.78, ...]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577840" y="2724912"/>
            <a:ext cx="3108960" cy="868680"/>
          </a:xfrm>
          <a:prstGeom prst="rect">
            <a:avLst/>
          </a:prstGeom>
          <a:solidFill>
            <a:srgbClr val="1E3A7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50992" y="277977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"What is savings?"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50992" y="312724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C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[0.09, -0.41, 0.71, ...]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577840" y="3730752"/>
            <a:ext cx="3108960" cy="868680"/>
          </a:xfrm>
          <a:prstGeom prst="rect">
            <a:avLst/>
          </a:prstGeom>
          <a:solidFill>
            <a:srgbClr val="1E3A7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50992" y="378561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"Home loan docs?"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50992" y="41330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C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[-0.33, 0.22, 0.60, ...]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440680" y="451713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C4CC"/>
                </a:solidFill>
              </a:rPr>
              <a:t>384-dimensional vectors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2550"/>
          </a:solidFill>
          <a:ln w="12700">
            <a:solidFill>
              <a:srgbClr val="1625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321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Retrieval — Finding the Best Match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43000"/>
            <a:ext cx="8503920" cy="749808"/>
          </a:xfrm>
          <a:prstGeom prst="rect">
            <a:avLst/>
          </a:prstGeom>
          <a:solidFill>
            <a:srgbClr val="1E3A70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80160"/>
            <a:ext cx="475488" cy="475488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80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3E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24128" y="119786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the Query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24128" y="1527048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the user's question into a 384-dim vector using the same Sentence Transformer model.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057400"/>
            <a:ext cx="8503920" cy="749808"/>
          </a:xfrm>
          <a:prstGeom prst="rect">
            <a:avLst/>
          </a:prstGeom>
          <a:solidFill>
            <a:srgbClr val="1E3A70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2194560"/>
            <a:ext cx="475488" cy="475488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194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3E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24128" y="211226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All Embeddings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024128" y="2441448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cosine similarity between the query vector and all 10 pre-stored Q&amp;A embeddings.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971800"/>
            <a:ext cx="8503920" cy="749808"/>
          </a:xfrm>
          <a:prstGeom prst="rect">
            <a:avLst/>
          </a:prstGeom>
          <a:solidFill>
            <a:srgbClr val="1E3A70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3108960"/>
            <a:ext cx="475488" cy="475488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108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3E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24128" y="302666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by Score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024128" y="3355848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all entries by their similarity score (0.0–1.0). Higher = more semantically relevant.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886200"/>
            <a:ext cx="8503920" cy="749808"/>
          </a:xfrm>
          <a:prstGeom prst="rect">
            <a:avLst/>
          </a:prstGeom>
          <a:solidFill>
            <a:srgbClr val="1E3A70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480" y="4023360"/>
            <a:ext cx="475488" cy="475488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023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3E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24128" y="394106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Threshold Filter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024128" y="4270248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top score &lt; 0.30, the bot returns 'I don't know' — preventing hallucinated answers.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112244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466344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Cosine Similarity = (A · B) / (|A| × |B|)   →   Simplified to dot product when vectors are L2-normalized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Demo — Chatbot in Action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15568"/>
            <a:ext cx="8412480" cy="37947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15568"/>
            <a:ext cx="841248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197864"/>
            <a:ext cx="155448" cy="15544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197864"/>
            <a:ext cx="155448" cy="15544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78992" y="1197864"/>
            <a:ext cx="155448" cy="15544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111556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banking_chatbot  --  python main.py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1572768"/>
            <a:ext cx="8046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You:  What is KYC?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" y="1901952"/>
            <a:ext cx="8046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Bot:  KYC (Know Your Customer) is a mandatory verification process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2231136"/>
            <a:ext cx="8046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used by banks to confirm client identity. It prevents fraud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" y="2560320"/>
            <a:ext cx="8046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and money laundering using ID proof, address proof, and photo.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6928" y="2889504"/>
            <a:ext cx="8046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03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-------------------------------------------------------------------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" y="3218688"/>
            <a:ext cx="8046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You:  How does UPI work?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6928" y="3547872"/>
            <a:ext cx="8046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Bot:  UPI enables instant bank-to-bank transfers via apps like Google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6928" y="3877056"/>
            <a:ext cx="8046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Pay or PhonePe. Set a UPI PIN, then send/receive money 24x7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" y="4206240"/>
            <a:ext cx="8046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using your UPI ID or QR code — no bank details needed.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2550"/>
          </a:solidFill>
          <a:ln w="12700">
            <a:solidFill>
              <a:srgbClr val="1625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 &amp; Submission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4572000" cy="37490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7043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📁 banking-chatbot/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57276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├── 📁 data/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│    └── banking_qa.json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26771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├── embeddings.py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61518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├── retrieval.py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96265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├── llm.py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31012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├── chatbot.py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6576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├── main.py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00507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├── requirements.txt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435254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└── README.md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212080" y="109728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Checklist</a:t>
            </a:r>
            <a:endParaRPr lang="en-US" sz="14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0368" y="1627632"/>
            <a:ext cx="237744" cy="237744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559552" y="1591056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modular Python code</a:t>
            </a:r>
            <a:endParaRPr lang="en-US" sz="11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368" y="1965960"/>
            <a:ext cx="237744" cy="23774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559552" y="1929384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Well-commented with docstrings</a:t>
            </a:r>
            <a:endParaRPr lang="en-US" sz="11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0368" y="2304288"/>
            <a:ext cx="237744" cy="23774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559552" y="226771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embeddings (local model)</a:t>
            </a:r>
            <a:endParaRPr lang="en-US" sz="11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0368" y="2642616"/>
            <a:ext cx="237744" cy="23774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559552" y="260604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retrieval</a:t>
            </a:r>
            <a:endParaRPr lang="en-US" sz="11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0368" y="2980944"/>
            <a:ext cx="237744" cy="23774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559552" y="294436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response via Groq API</a:t>
            </a:r>
            <a:endParaRPr lang="en-US" sz="110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0368" y="3319272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559552" y="3282696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fallback if no API key</a:t>
            </a:r>
            <a:endParaRPr lang="en-US" sz="110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0368" y="3657600"/>
            <a:ext cx="237744" cy="23774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5559552" y="3621024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interface with banner</a:t>
            </a:r>
            <a:endParaRPr lang="en-US" sz="110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0368" y="3995928"/>
            <a:ext cx="237744" cy="237744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5559552" y="395935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Q&amp;A dataset (10 entries)</a:t>
            </a:r>
            <a:endParaRPr lang="en-US" sz="1100" dirty="0"/>
          </a:p>
        </p:txBody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30368" y="4334256"/>
            <a:ext cx="237744" cy="237744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5559552" y="42976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requirements.txt included</a:t>
            </a:r>
            <a:endParaRPr lang="en-US" sz="1100" dirty="0"/>
          </a:p>
        </p:txBody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30368" y="4672584"/>
            <a:ext cx="237744" cy="237744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5559552" y="463600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with setup instructions</a:t>
            </a:r>
            <a:endParaRPr lang="en-US" sz="1100" dirty="0"/>
          </a:p>
        </p:txBody>
      </p:sp>
      <p:sp>
        <p:nvSpPr>
          <p:cNvPr id="37" name="Shape 25"/>
          <p:cNvSpPr/>
          <p:nvPr/>
        </p:nvSpPr>
        <p:spPr>
          <a:xfrm>
            <a:off x="365760" y="4681728"/>
            <a:ext cx="841248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3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8640" y="4736592"/>
            <a:ext cx="237744" cy="237744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914400" y="468172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Submit as a public GitHub repository with source code + screenshots of sample chatbot interactions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5303520" y="457200"/>
            <a:ext cx="3474720" cy="3474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41148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188720"/>
            <a:ext cx="384048" cy="384048"/>
          </a:xfrm>
          <a:prstGeom prst="ellipse">
            <a:avLst/>
          </a:prstGeom>
          <a:solidFill>
            <a:srgbClr val="1E3A70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25296"/>
            <a:ext cx="310896" cy="3108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32688" y="1097280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structure a domain-specific Q&amp;A dataset in JSON</a:t>
            </a:r>
            <a:endParaRPr lang="en-US" sz="1350" dirty="0"/>
          </a:p>
        </p:txBody>
      </p:sp>
      <p:sp>
        <p:nvSpPr>
          <p:cNvPr id="8" name="Shape 4"/>
          <p:cNvSpPr/>
          <p:nvPr/>
        </p:nvSpPr>
        <p:spPr>
          <a:xfrm>
            <a:off x="411480" y="1810512"/>
            <a:ext cx="384048" cy="384048"/>
          </a:xfrm>
          <a:prstGeom prst="ellipse">
            <a:avLst/>
          </a:prstGeom>
          <a:solidFill>
            <a:srgbClr val="1E3A70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47088"/>
            <a:ext cx="310896" cy="31089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32688" y="171907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Sentence Transformers convert text into semantic embeddings</a:t>
            </a:r>
            <a:endParaRPr lang="en-US" sz="1350" dirty="0"/>
          </a:p>
        </p:txBody>
      </p:sp>
      <p:sp>
        <p:nvSpPr>
          <p:cNvPr id="11" name="Shape 6"/>
          <p:cNvSpPr/>
          <p:nvPr/>
        </p:nvSpPr>
        <p:spPr>
          <a:xfrm>
            <a:off x="411480" y="2432304"/>
            <a:ext cx="384048" cy="384048"/>
          </a:xfrm>
          <a:prstGeom prst="ellipse">
            <a:avLst/>
          </a:prstGeom>
          <a:solidFill>
            <a:srgbClr val="1E3A70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468880"/>
            <a:ext cx="310896" cy="31089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32688" y="2340864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cosine similarity enables semantic (not just keyword) search</a:t>
            </a:r>
            <a:endParaRPr lang="en-US" sz="1350" dirty="0"/>
          </a:p>
        </p:txBody>
      </p:sp>
      <p:sp>
        <p:nvSpPr>
          <p:cNvPr id="14" name="Shape 8"/>
          <p:cNvSpPr/>
          <p:nvPr/>
        </p:nvSpPr>
        <p:spPr>
          <a:xfrm>
            <a:off x="411480" y="3054096"/>
            <a:ext cx="384048" cy="384048"/>
          </a:xfrm>
          <a:prstGeom prst="ellipse">
            <a:avLst/>
          </a:prstGeom>
          <a:solidFill>
            <a:srgbClr val="1E3A70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090672"/>
            <a:ext cx="310896" cy="31089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32688" y="2962656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integrate LLMs to generate fluent, context-grounded answers</a:t>
            </a:r>
            <a:endParaRPr lang="en-US" sz="1350" dirty="0"/>
          </a:p>
        </p:txBody>
      </p:sp>
      <p:sp>
        <p:nvSpPr>
          <p:cNvPr id="17" name="Shape 10"/>
          <p:cNvSpPr/>
          <p:nvPr/>
        </p:nvSpPr>
        <p:spPr>
          <a:xfrm>
            <a:off x="411480" y="3675888"/>
            <a:ext cx="384048" cy="384048"/>
          </a:xfrm>
          <a:prstGeom prst="ellipse">
            <a:avLst/>
          </a:prstGeom>
          <a:solidFill>
            <a:srgbClr val="1E3A70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712464"/>
            <a:ext cx="310896" cy="310896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932688" y="3584448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build a clean, modular, production-ready Python chatbot</a:t>
            </a:r>
            <a:endParaRPr lang="en-US" sz="1350" dirty="0"/>
          </a:p>
        </p:txBody>
      </p:sp>
      <p:sp>
        <p:nvSpPr>
          <p:cNvPr id="20" name="Shape 12"/>
          <p:cNvSpPr/>
          <p:nvPr/>
        </p:nvSpPr>
        <p:spPr>
          <a:xfrm>
            <a:off x="411480" y="4297680"/>
            <a:ext cx="384048" cy="384048"/>
          </a:xfrm>
          <a:prstGeom prst="ellipse">
            <a:avLst/>
          </a:prstGeom>
          <a:solidFill>
            <a:srgbClr val="1E3A70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334256"/>
            <a:ext cx="310896" cy="310896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932688" y="4206240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RAG pattern: Retrieve → Augment → Generate</a:t>
            </a:r>
            <a:endParaRPr lang="en-US" sz="1350" dirty="0"/>
          </a:p>
        </p:txBody>
      </p:sp>
      <p:sp>
        <p:nvSpPr>
          <p:cNvPr id="23" name="Shape 14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4" name="Text 15"/>
          <p:cNvSpPr/>
          <p:nvPr/>
        </p:nvSpPr>
        <p:spPr>
          <a:xfrm>
            <a:off x="274320" y="4617720"/>
            <a:ext cx="85953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Banking Chatbot  |  AI Internship Assignment  |  Python + LLM + Embeddings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Banking Chatbot — AI Powered Q&amp;A System</dc:title>
  <dc:subject>AI Internship Assignment</dc:subject>
  <dc:creator>AI Internship</dc:creator>
  <cp:lastModifiedBy>AI Internship</cp:lastModifiedBy>
  <cp:revision>1</cp:revision>
  <dcterms:created xsi:type="dcterms:W3CDTF">2026-04-06T16:19:52Z</dcterms:created>
  <dcterms:modified xsi:type="dcterms:W3CDTF">2026-04-06T16:19:52Z</dcterms:modified>
</cp:coreProperties>
</file>